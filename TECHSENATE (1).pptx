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8288000" cy="10287000"/>
  <p:notesSz cx="6858000" cy="9144000"/>
  <p:embeddedFontLst>
    <p:embeddedFont>
      <p:font typeface="Canva Sans Bold" panose="020B0604020202020204" charset="0"/>
      <p:regular r:id="rId13"/>
    </p:embeddedFont>
    <p:embeddedFont>
      <p:font typeface="Garet" panose="020B0604020202020204" charset="0"/>
      <p:regular r:id="rId14"/>
    </p:embeddedFont>
    <p:embeddedFont>
      <p:font typeface="Garet Bold" panose="020B0604020202020204" charset="0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9.jpe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image" Target="../media/image14.jpe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sv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sv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sv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9541691" y="4106171"/>
            <a:ext cx="13325516" cy="6662758"/>
          </a:xfrm>
          <a:custGeom>
            <a:avLst/>
            <a:gdLst/>
            <a:ahLst/>
            <a:cxnLst/>
            <a:rect l="l" t="t" r="r" b="b"/>
            <a:pathLst>
              <a:path w="13325516" h="6662758">
                <a:moveTo>
                  <a:pt x="13325516" y="0"/>
                </a:moveTo>
                <a:lnTo>
                  <a:pt x="0" y="0"/>
                </a:lnTo>
                <a:lnTo>
                  <a:pt x="0" y="6662757"/>
                </a:lnTo>
                <a:lnTo>
                  <a:pt x="13325516" y="6662757"/>
                </a:lnTo>
                <a:lnTo>
                  <a:pt x="13325516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766274" y="7878926"/>
            <a:ext cx="5493859" cy="689118"/>
            <a:chOff x="0" y="0"/>
            <a:chExt cx="1446942" cy="181496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46942" cy="181496"/>
            </a:xfrm>
            <a:custGeom>
              <a:avLst/>
              <a:gdLst/>
              <a:ahLst/>
              <a:cxnLst/>
              <a:rect l="l" t="t" r="r" b="b"/>
              <a:pathLst>
                <a:path w="1446942" h="181496">
                  <a:moveTo>
                    <a:pt x="71869" y="0"/>
                  </a:moveTo>
                  <a:lnTo>
                    <a:pt x="1375073" y="0"/>
                  </a:lnTo>
                  <a:cubicBezTo>
                    <a:pt x="1394134" y="0"/>
                    <a:pt x="1412414" y="7572"/>
                    <a:pt x="1425892" y="21050"/>
                  </a:cubicBezTo>
                  <a:cubicBezTo>
                    <a:pt x="1439370" y="34528"/>
                    <a:pt x="1446942" y="52808"/>
                    <a:pt x="1446942" y="71869"/>
                  </a:cubicBezTo>
                  <a:lnTo>
                    <a:pt x="1446942" y="109627"/>
                  </a:lnTo>
                  <a:cubicBezTo>
                    <a:pt x="1446942" y="128688"/>
                    <a:pt x="1439370" y="146968"/>
                    <a:pt x="1425892" y="160446"/>
                  </a:cubicBezTo>
                  <a:cubicBezTo>
                    <a:pt x="1412414" y="173924"/>
                    <a:pt x="1394134" y="181496"/>
                    <a:pt x="1375073" y="181496"/>
                  </a:cubicBezTo>
                  <a:lnTo>
                    <a:pt x="71869" y="181496"/>
                  </a:lnTo>
                  <a:cubicBezTo>
                    <a:pt x="52808" y="181496"/>
                    <a:pt x="34528" y="173924"/>
                    <a:pt x="21050" y="160446"/>
                  </a:cubicBezTo>
                  <a:cubicBezTo>
                    <a:pt x="7572" y="146968"/>
                    <a:pt x="0" y="128688"/>
                    <a:pt x="0" y="109627"/>
                  </a:cubicBezTo>
                  <a:lnTo>
                    <a:pt x="0" y="71869"/>
                  </a:lnTo>
                  <a:cubicBezTo>
                    <a:pt x="0" y="52808"/>
                    <a:pt x="7572" y="34528"/>
                    <a:pt x="21050" y="21050"/>
                  </a:cubicBezTo>
                  <a:cubicBezTo>
                    <a:pt x="34528" y="7572"/>
                    <a:pt x="52808" y="0"/>
                    <a:pt x="71869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ED9AC2">
                    <a:alpha val="100000"/>
                  </a:srgbClr>
                </a:gs>
                <a:gs pos="100000">
                  <a:srgbClr val="5039A8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46942" cy="2195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13446215" y="0"/>
            <a:ext cx="4143375" cy="4143375"/>
          </a:xfrm>
          <a:custGeom>
            <a:avLst/>
            <a:gdLst/>
            <a:ahLst/>
            <a:cxnLst/>
            <a:rect l="l" t="t" r="r" b="b"/>
            <a:pathLst>
              <a:path w="4143375" h="4143375">
                <a:moveTo>
                  <a:pt x="0" y="0"/>
                </a:moveTo>
                <a:lnTo>
                  <a:pt x="4143375" y="0"/>
                </a:lnTo>
                <a:lnTo>
                  <a:pt x="4143375" y="4143375"/>
                </a:lnTo>
                <a:lnTo>
                  <a:pt x="0" y="414337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>
            <a:off x="766274" y="459959"/>
            <a:ext cx="1192068" cy="649584"/>
          </a:xfrm>
          <a:custGeom>
            <a:avLst/>
            <a:gdLst/>
            <a:ahLst/>
            <a:cxnLst/>
            <a:rect l="l" t="t" r="r" b="b"/>
            <a:pathLst>
              <a:path w="1192068" h="649584">
                <a:moveTo>
                  <a:pt x="0" y="0"/>
                </a:moveTo>
                <a:lnTo>
                  <a:pt x="1192068" y="0"/>
                </a:lnTo>
                <a:lnTo>
                  <a:pt x="1192068" y="649583"/>
                </a:lnTo>
                <a:lnTo>
                  <a:pt x="0" y="64958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TextBox 8"/>
          <p:cNvSpPr txBox="1"/>
          <p:nvPr/>
        </p:nvSpPr>
        <p:spPr>
          <a:xfrm>
            <a:off x="766274" y="1695450"/>
            <a:ext cx="14964591" cy="4733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599"/>
              </a:lnSpc>
            </a:pPr>
            <a:r>
              <a:rPr lang="en-US" sz="9000" spc="-441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Networking &amp; Storage Prototype using P2P &amp; Ledger Modules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36564" y="7921121"/>
            <a:ext cx="5787673" cy="5213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39"/>
              </a:lnSpc>
            </a:pPr>
            <a:r>
              <a:rPr lang="en-US" sz="3099" b="1" spc="-151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TEAM NAME: TECHSENATE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958342" y="393284"/>
            <a:ext cx="5787673" cy="6299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79"/>
              </a:lnSpc>
            </a:pPr>
            <a:r>
              <a:rPr lang="en-US" sz="3699" b="1" spc="-181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Diamante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10252787" y="2251787"/>
            <a:ext cx="10287000" cy="5783425"/>
          </a:xfrm>
          <a:custGeom>
            <a:avLst/>
            <a:gdLst/>
            <a:ahLst/>
            <a:cxnLst/>
            <a:rect l="l" t="t" r="r" b="b"/>
            <a:pathLst>
              <a:path w="10287000" h="5783425">
                <a:moveTo>
                  <a:pt x="0" y="0"/>
                </a:moveTo>
                <a:lnTo>
                  <a:pt x="10287000" y="0"/>
                </a:lnTo>
                <a:lnTo>
                  <a:pt x="10287000" y="5783426"/>
                </a:lnTo>
                <a:lnTo>
                  <a:pt x="0" y="578342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10437399" y="-1783687"/>
            <a:ext cx="4958889" cy="4958889"/>
          </a:xfrm>
          <a:custGeom>
            <a:avLst/>
            <a:gdLst/>
            <a:ahLst/>
            <a:cxnLst/>
            <a:rect l="l" t="t" r="r" b="b"/>
            <a:pathLst>
              <a:path w="4958889" h="4958889">
                <a:moveTo>
                  <a:pt x="0" y="0"/>
                </a:moveTo>
                <a:lnTo>
                  <a:pt x="4958888" y="0"/>
                </a:lnTo>
                <a:lnTo>
                  <a:pt x="4958888" y="4958888"/>
                </a:lnTo>
                <a:lnTo>
                  <a:pt x="0" y="49588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/>
          <p:nvPr/>
        </p:nvGrpSpPr>
        <p:grpSpPr>
          <a:xfrm>
            <a:off x="909862" y="1192694"/>
            <a:ext cx="9636207" cy="1631572"/>
            <a:chOff x="0" y="0"/>
            <a:chExt cx="2537931" cy="42971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537931" cy="429714"/>
            </a:xfrm>
            <a:custGeom>
              <a:avLst/>
              <a:gdLst/>
              <a:ahLst/>
              <a:cxnLst/>
              <a:rect l="l" t="t" r="r" b="b"/>
              <a:pathLst>
                <a:path w="2537931" h="429714">
                  <a:moveTo>
                    <a:pt x="40974" y="0"/>
                  </a:moveTo>
                  <a:lnTo>
                    <a:pt x="2496957" y="0"/>
                  </a:lnTo>
                  <a:cubicBezTo>
                    <a:pt x="2507824" y="0"/>
                    <a:pt x="2518246" y="4317"/>
                    <a:pt x="2525930" y="12001"/>
                  </a:cubicBezTo>
                  <a:cubicBezTo>
                    <a:pt x="2533614" y="19685"/>
                    <a:pt x="2537931" y="30107"/>
                    <a:pt x="2537931" y="40974"/>
                  </a:cubicBezTo>
                  <a:lnTo>
                    <a:pt x="2537931" y="388740"/>
                  </a:lnTo>
                  <a:cubicBezTo>
                    <a:pt x="2537931" y="399607"/>
                    <a:pt x="2533614" y="410029"/>
                    <a:pt x="2525930" y="417713"/>
                  </a:cubicBezTo>
                  <a:cubicBezTo>
                    <a:pt x="2518246" y="425397"/>
                    <a:pt x="2507824" y="429714"/>
                    <a:pt x="2496957" y="429714"/>
                  </a:cubicBezTo>
                  <a:lnTo>
                    <a:pt x="40974" y="429714"/>
                  </a:lnTo>
                  <a:cubicBezTo>
                    <a:pt x="30107" y="429714"/>
                    <a:pt x="19685" y="425397"/>
                    <a:pt x="12001" y="417713"/>
                  </a:cubicBezTo>
                  <a:cubicBezTo>
                    <a:pt x="4317" y="410029"/>
                    <a:pt x="0" y="399607"/>
                    <a:pt x="0" y="388740"/>
                  </a:cubicBezTo>
                  <a:lnTo>
                    <a:pt x="0" y="40974"/>
                  </a:lnTo>
                  <a:cubicBezTo>
                    <a:pt x="0" y="30107"/>
                    <a:pt x="4317" y="19685"/>
                    <a:pt x="12001" y="12001"/>
                  </a:cubicBezTo>
                  <a:cubicBezTo>
                    <a:pt x="19685" y="4317"/>
                    <a:pt x="30107" y="0"/>
                    <a:pt x="4097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ED9AC2">
                    <a:alpha val="100000"/>
                  </a:srgbClr>
                </a:gs>
                <a:gs pos="100000">
                  <a:srgbClr val="5039A8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2537931" cy="4678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028700" y="983144"/>
            <a:ext cx="13172158" cy="1801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650"/>
              </a:lnSpc>
            </a:pPr>
            <a:r>
              <a:rPr lang="en-US" sz="10464" b="1" spc="-512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About Project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09862" y="3333115"/>
            <a:ext cx="11327621" cy="6646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82930" lvl="1" indent="-291465" algn="just">
              <a:lnSpc>
                <a:spcPts val="3779"/>
              </a:lnSpc>
              <a:buFont typeface="Arial"/>
              <a:buChar char="•"/>
            </a:pPr>
            <a:r>
              <a:rPr lang="en-US" sz="2700" spc="-132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Developed a prototype for the Diamante L1 blockchain stack.</a:t>
            </a:r>
          </a:p>
          <a:p>
            <a:pPr algn="just">
              <a:lnSpc>
                <a:spcPts val="3779"/>
              </a:lnSpc>
            </a:pPr>
            <a:endParaRPr lang="en-US" sz="2700" spc="-132">
              <a:solidFill>
                <a:srgbClr val="FFFFFF"/>
              </a:solidFill>
              <a:latin typeface="Garet"/>
              <a:ea typeface="Garet"/>
              <a:cs typeface="Garet"/>
              <a:sym typeface="Garet"/>
            </a:endParaRPr>
          </a:p>
          <a:p>
            <a:pPr marL="582930" lvl="1" indent="-291465" algn="just">
              <a:lnSpc>
                <a:spcPts val="3779"/>
              </a:lnSpc>
              <a:buFont typeface="Arial"/>
              <a:buChar char="•"/>
            </a:pPr>
            <a:r>
              <a:rPr lang="en-US" sz="2700" spc="-132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Networking (P2P): Established a decentralized peer-to-peer network for node communication.</a:t>
            </a:r>
          </a:p>
          <a:p>
            <a:pPr algn="just">
              <a:lnSpc>
                <a:spcPts val="3779"/>
              </a:lnSpc>
            </a:pPr>
            <a:endParaRPr lang="en-US" sz="2700" spc="-132">
              <a:solidFill>
                <a:srgbClr val="FFFFFF"/>
              </a:solidFill>
              <a:latin typeface="Garet"/>
              <a:ea typeface="Garet"/>
              <a:cs typeface="Garet"/>
              <a:sym typeface="Garet"/>
            </a:endParaRPr>
          </a:p>
          <a:p>
            <a:pPr marL="582930" lvl="1" indent="-291465" algn="just">
              <a:lnSpc>
                <a:spcPts val="3779"/>
              </a:lnSpc>
              <a:buFont typeface="Arial"/>
              <a:buChar char="•"/>
            </a:pPr>
            <a:r>
              <a:rPr lang="en-US" sz="2700" spc="-132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Storage (Ledger/State Machine): Managed immutable transaction records and maintained accurate state.</a:t>
            </a:r>
          </a:p>
          <a:p>
            <a:pPr algn="just">
              <a:lnSpc>
                <a:spcPts val="3779"/>
              </a:lnSpc>
            </a:pPr>
            <a:endParaRPr lang="en-US" sz="2700" spc="-132">
              <a:solidFill>
                <a:srgbClr val="FFFFFF"/>
              </a:solidFill>
              <a:latin typeface="Garet"/>
              <a:ea typeface="Garet"/>
              <a:cs typeface="Garet"/>
              <a:sym typeface="Garet"/>
            </a:endParaRPr>
          </a:p>
          <a:p>
            <a:pPr marL="582930" lvl="1" indent="-291465" algn="just">
              <a:lnSpc>
                <a:spcPts val="3779"/>
              </a:lnSpc>
              <a:buFont typeface="Arial"/>
              <a:buChar char="•"/>
            </a:pPr>
            <a:r>
              <a:rPr lang="en-US" sz="2700" spc="-132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Implemented real-time transaction processing and data persistence.</a:t>
            </a:r>
          </a:p>
          <a:p>
            <a:pPr algn="just">
              <a:lnSpc>
                <a:spcPts val="3779"/>
              </a:lnSpc>
            </a:pPr>
            <a:endParaRPr lang="en-US" sz="2700" spc="-132">
              <a:solidFill>
                <a:srgbClr val="FFFFFF"/>
              </a:solidFill>
              <a:latin typeface="Garet"/>
              <a:ea typeface="Garet"/>
              <a:cs typeface="Garet"/>
              <a:sym typeface="Garet"/>
            </a:endParaRPr>
          </a:p>
          <a:p>
            <a:pPr marL="582930" lvl="1" indent="-291465" algn="just">
              <a:lnSpc>
                <a:spcPts val="3779"/>
              </a:lnSpc>
              <a:buFont typeface="Arial"/>
              <a:buChar char="•"/>
            </a:pPr>
            <a:r>
              <a:rPr lang="en-US" sz="2700" spc="-132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Created a visual dashboard to monitor node interactions and ledger updates.</a:t>
            </a:r>
          </a:p>
          <a:p>
            <a:pPr algn="just">
              <a:lnSpc>
                <a:spcPts val="3779"/>
              </a:lnSpc>
            </a:pPr>
            <a:endParaRPr lang="en-US" sz="2700" spc="-132">
              <a:solidFill>
                <a:srgbClr val="FFFFFF"/>
              </a:solidFill>
              <a:latin typeface="Garet"/>
              <a:ea typeface="Garet"/>
              <a:cs typeface="Garet"/>
              <a:sym typeface="Gare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44775" y="7097895"/>
            <a:ext cx="4958889" cy="4958889"/>
          </a:xfrm>
          <a:custGeom>
            <a:avLst/>
            <a:gdLst/>
            <a:ahLst/>
            <a:cxnLst/>
            <a:rect l="l" t="t" r="r" b="b"/>
            <a:pathLst>
              <a:path w="4958889" h="4958889">
                <a:moveTo>
                  <a:pt x="0" y="0"/>
                </a:moveTo>
                <a:lnTo>
                  <a:pt x="4958888" y="0"/>
                </a:lnTo>
                <a:lnTo>
                  <a:pt x="4958888" y="4958888"/>
                </a:lnTo>
                <a:lnTo>
                  <a:pt x="0" y="495888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 rot="-5400000">
            <a:off x="6402558" y="-1649810"/>
            <a:ext cx="9784720" cy="13639106"/>
          </a:xfrm>
          <a:custGeom>
            <a:avLst/>
            <a:gdLst/>
            <a:ahLst/>
            <a:cxnLst/>
            <a:rect l="l" t="t" r="r" b="b"/>
            <a:pathLst>
              <a:path w="9784720" h="13639106">
                <a:moveTo>
                  <a:pt x="0" y="0"/>
                </a:moveTo>
                <a:lnTo>
                  <a:pt x="9784720" y="0"/>
                </a:lnTo>
                <a:lnTo>
                  <a:pt x="9784720" y="13639105"/>
                </a:lnTo>
                <a:lnTo>
                  <a:pt x="0" y="136391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536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314355" y="4231262"/>
            <a:ext cx="3909864" cy="12553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179"/>
              </a:lnSpc>
            </a:pPr>
            <a:r>
              <a:rPr lang="en-US" sz="10199" b="1" spc="775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PLAN</a:t>
            </a:r>
          </a:p>
        </p:txBody>
      </p:sp>
      <p:sp>
        <p:nvSpPr>
          <p:cNvPr id="5" name="Freeform 5"/>
          <p:cNvSpPr/>
          <p:nvPr/>
        </p:nvSpPr>
        <p:spPr>
          <a:xfrm>
            <a:off x="-1906963" y="-1685521"/>
            <a:ext cx="4958889" cy="4958889"/>
          </a:xfrm>
          <a:custGeom>
            <a:avLst/>
            <a:gdLst/>
            <a:ahLst/>
            <a:cxnLst/>
            <a:rect l="l" t="t" r="r" b="b"/>
            <a:pathLst>
              <a:path w="4958889" h="4958889">
                <a:moveTo>
                  <a:pt x="0" y="0"/>
                </a:moveTo>
                <a:lnTo>
                  <a:pt x="4958889" y="0"/>
                </a:lnTo>
                <a:lnTo>
                  <a:pt x="4958889" y="4958888"/>
                </a:lnTo>
                <a:lnTo>
                  <a:pt x="0" y="495888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-1754563" y="-1533121"/>
            <a:ext cx="4958889" cy="4958889"/>
          </a:xfrm>
          <a:custGeom>
            <a:avLst/>
            <a:gdLst/>
            <a:ahLst/>
            <a:cxnLst/>
            <a:rect l="l" t="t" r="r" b="b"/>
            <a:pathLst>
              <a:path w="4958889" h="4958889">
                <a:moveTo>
                  <a:pt x="0" y="0"/>
                </a:moveTo>
                <a:lnTo>
                  <a:pt x="4958889" y="0"/>
                </a:lnTo>
                <a:lnTo>
                  <a:pt x="4958889" y="4958888"/>
                </a:lnTo>
                <a:lnTo>
                  <a:pt x="0" y="495888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779856" y="-2115328"/>
            <a:ext cx="4958889" cy="4958889"/>
          </a:xfrm>
          <a:custGeom>
            <a:avLst/>
            <a:gdLst/>
            <a:ahLst/>
            <a:cxnLst/>
            <a:rect l="l" t="t" r="r" b="b"/>
            <a:pathLst>
              <a:path w="4958889" h="4958889">
                <a:moveTo>
                  <a:pt x="0" y="0"/>
                </a:moveTo>
                <a:lnTo>
                  <a:pt x="4958888" y="0"/>
                </a:lnTo>
                <a:lnTo>
                  <a:pt x="4958888" y="4958889"/>
                </a:lnTo>
                <a:lnTo>
                  <a:pt x="0" y="495888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3" name="Picture 3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rcRect t="4820" b="4820"/>
          <a:stretch>
            <a:fillRect/>
          </a:stretch>
        </p:blipFill>
        <p:spPr>
          <a:xfrm>
            <a:off x="434366" y="1518321"/>
            <a:ext cx="17524210" cy="8445125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434366" y="-21484"/>
            <a:ext cx="9126387" cy="1539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96"/>
              </a:lnSpc>
            </a:pPr>
            <a:r>
              <a:rPr lang="en-US" sz="9069" spc="-444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Demo Video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10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614714" y="-988572"/>
            <a:ext cx="8034430" cy="10043037"/>
          </a:xfrm>
          <a:custGeom>
            <a:avLst/>
            <a:gdLst/>
            <a:ahLst/>
            <a:cxnLst/>
            <a:rect l="l" t="t" r="r" b="b"/>
            <a:pathLst>
              <a:path w="8034430" h="10043037">
                <a:moveTo>
                  <a:pt x="0" y="0"/>
                </a:moveTo>
                <a:lnTo>
                  <a:pt x="8034429" y="0"/>
                </a:lnTo>
                <a:lnTo>
                  <a:pt x="8034429" y="10043037"/>
                </a:lnTo>
                <a:lnTo>
                  <a:pt x="0" y="100430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13080794" y="725837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1028700" y="1093502"/>
            <a:ext cx="10060134" cy="39268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339"/>
              </a:lnSpc>
            </a:pPr>
            <a:r>
              <a:rPr lang="en-US" sz="3099" b="1" spc="-151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System Components:</a:t>
            </a:r>
          </a:p>
          <a:p>
            <a:pPr algn="just">
              <a:lnSpc>
                <a:spcPts val="4339"/>
              </a:lnSpc>
            </a:pPr>
            <a:endParaRPr lang="en-US" sz="3099" b="1" spc="-151">
              <a:solidFill>
                <a:srgbClr val="FFFFFF"/>
              </a:solidFill>
              <a:latin typeface="Garet Bold"/>
              <a:ea typeface="Garet Bold"/>
              <a:cs typeface="Garet Bold"/>
              <a:sym typeface="Garet Bold"/>
            </a:endParaRPr>
          </a:p>
          <a:p>
            <a:pPr marL="582930" lvl="1" indent="-291465" algn="just">
              <a:lnSpc>
                <a:spcPts val="3779"/>
              </a:lnSpc>
              <a:buFont typeface="Arial"/>
              <a:buChar char="•"/>
            </a:pPr>
            <a:r>
              <a:rPr lang="en-US" sz="2700" spc="-132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Node 1: Sends transactions/messages.</a:t>
            </a:r>
          </a:p>
          <a:p>
            <a:pPr marL="582930" lvl="1" indent="-291465" algn="just">
              <a:lnSpc>
                <a:spcPts val="3779"/>
              </a:lnSpc>
              <a:buFont typeface="Arial"/>
              <a:buChar char="•"/>
            </a:pPr>
            <a:r>
              <a:rPr lang="en-US" sz="2700" spc="-132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Node 2: Receives and stores messages in LevelDB.</a:t>
            </a:r>
          </a:p>
          <a:p>
            <a:pPr marL="582930" lvl="1" indent="-291465" algn="just">
              <a:lnSpc>
                <a:spcPts val="3779"/>
              </a:lnSpc>
              <a:buFont typeface="Arial"/>
              <a:buChar char="•"/>
            </a:pPr>
            <a:r>
              <a:rPr lang="en-US" sz="2700" spc="-132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Server: Exposes stored data via REST API.</a:t>
            </a:r>
          </a:p>
          <a:p>
            <a:pPr marL="582930" lvl="1" indent="-291465" algn="just">
              <a:lnSpc>
                <a:spcPts val="3779"/>
              </a:lnSpc>
              <a:buFont typeface="Arial"/>
              <a:buChar char="•"/>
            </a:pPr>
            <a:r>
              <a:rPr lang="en-US" sz="2700" spc="-132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Dashboard: Displays live updates of node messages and ledger entries.​</a:t>
            </a:r>
          </a:p>
          <a:p>
            <a:pPr algn="just">
              <a:lnSpc>
                <a:spcPts val="3779"/>
              </a:lnSpc>
            </a:pPr>
            <a:endParaRPr lang="en-US" sz="2700" spc="-132">
              <a:solidFill>
                <a:srgbClr val="FFFFFF"/>
              </a:solidFill>
              <a:latin typeface="Garet"/>
              <a:ea typeface="Garet"/>
              <a:cs typeface="Garet"/>
              <a:sym typeface="Garet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028700" y="5375018"/>
            <a:ext cx="10060134" cy="29743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339"/>
              </a:lnSpc>
            </a:pPr>
            <a:r>
              <a:rPr lang="en-US" sz="3099" b="1" spc="-151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Technologies Used:</a:t>
            </a:r>
          </a:p>
          <a:p>
            <a:pPr algn="just">
              <a:lnSpc>
                <a:spcPts val="4339"/>
              </a:lnSpc>
            </a:pPr>
            <a:endParaRPr lang="en-US" sz="3099" b="1" spc="-151">
              <a:solidFill>
                <a:srgbClr val="FFFFFF"/>
              </a:solidFill>
              <a:latin typeface="Garet Bold"/>
              <a:ea typeface="Garet Bold"/>
              <a:cs typeface="Garet Bold"/>
              <a:sym typeface="Garet Bold"/>
            </a:endParaRPr>
          </a:p>
          <a:p>
            <a:pPr marL="582930" lvl="1" indent="-291465" algn="just">
              <a:lnSpc>
                <a:spcPts val="3779"/>
              </a:lnSpc>
              <a:buFont typeface="Arial"/>
              <a:buChar char="•"/>
            </a:pPr>
            <a:r>
              <a:rPr lang="en-US" sz="2700" spc="-132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GoLang for networking and database operations.</a:t>
            </a:r>
          </a:p>
          <a:p>
            <a:pPr marL="582930" lvl="1" indent="-291465" algn="just">
              <a:lnSpc>
                <a:spcPts val="3779"/>
              </a:lnSpc>
              <a:buFont typeface="Arial"/>
              <a:buChar char="•"/>
            </a:pPr>
            <a:r>
              <a:rPr lang="en-US" sz="2700" spc="-132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LevelDB for lightweight key-value storage.</a:t>
            </a:r>
          </a:p>
          <a:p>
            <a:pPr marL="582930" lvl="1" indent="-291465" algn="just">
              <a:lnSpc>
                <a:spcPts val="3779"/>
              </a:lnSpc>
              <a:buFont typeface="Arial"/>
              <a:buChar char="•"/>
            </a:pPr>
            <a:r>
              <a:rPr lang="en-US" sz="2700" spc="-132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HTML/CSS/JS for the frontend interface.</a:t>
            </a:r>
          </a:p>
          <a:p>
            <a:pPr algn="just">
              <a:lnSpc>
                <a:spcPts val="3779"/>
              </a:lnSpc>
            </a:pPr>
            <a:endParaRPr lang="en-US" sz="2700" spc="-132">
              <a:solidFill>
                <a:srgbClr val="FFFFFF"/>
              </a:solidFill>
              <a:latin typeface="Garet"/>
              <a:ea typeface="Garet"/>
              <a:cs typeface="Garet"/>
              <a:sym typeface="Gare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779856" y="-2115328"/>
            <a:ext cx="4958889" cy="4958889"/>
          </a:xfrm>
          <a:custGeom>
            <a:avLst/>
            <a:gdLst/>
            <a:ahLst/>
            <a:cxnLst/>
            <a:rect l="l" t="t" r="r" b="b"/>
            <a:pathLst>
              <a:path w="4958889" h="4958889">
                <a:moveTo>
                  <a:pt x="0" y="0"/>
                </a:moveTo>
                <a:lnTo>
                  <a:pt x="4958888" y="0"/>
                </a:lnTo>
                <a:lnTo>
                  <a:pt x="4958888" y="4958889"/>
                </a:lnTo>
                <a:lnTo>
                  <a:pt x="0" y="495888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3" name="Picture 3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rcRect l="632" r="632"/>
          <a:stretch>
            <a:fillRect/>
          </a:stretch>
        </p:blipFill>
        <p:spPr>
          <a:xfrm>
            <a:off x="401574" y="1518321"/>
            <a:ext cx="17484852" cy="8567577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434366" y="-11959"/>
            <a:ext cx="16631763" cy="1409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577"/>
              </a:lnSpc>
            </a:pPr>
            <a:r>
              <a:rPr lang="en-US" sz="8269" spc="-405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Real-world Application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10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454439" y="8174000"/>
            <a:ext cx="7315200" cy="1103930"/>
          </a:xfrm>
          <a:custGeom>
            <a:avLst/>
            <a:gdLst/>
            <a:ahLst/>
            <a:cxnLst/>
            <a:rect l="l" t="t" r="r" b="b"/>
            <a:pathLst>
              <a:path w="7315200" h="1103930">
                <a:moveTo>
                  <a:pt x="0" y="0"/>
                </a:moveTo>
                <a:lnTo>
                  <a:pt x="7315200" y="0"/>
                </a:lnTo>
                <a:lnTo>
                  <a:pt x="7315200" y="1103930"/>
                </a:lnTo>
                <a:lnTo>
                  <a:pt x="0" y="11039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-819547" y="2395183"/>
            <a:ext cx="5778818" cy="5778818"/>
          </a:xfrm>
          <a:custGeom>
            <a:avLst/>
            <a:gdLst/>
            <a:ahLst/>
            <a:cxnLst/>
            <a:rect l="l" t="t" r="r" b="b"/>
            <a:pathLst>
              <a:path w="5778818" h="5778818">
                <a:moveTo>
                  <a:pt x="0" y="0"/>
                </a:moveTo>
                <a:lnTo>
                  <a:pt x="5778818" y="0"/>
                </a:lnTo>
                <a:lnTo>
                  <a:pt x="5778818" y="5778817"/>
                </a:lnTo>
                <a:lnTo>
                  <a:pt x="0" y="577881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6860761" y="775995"/>
            <a:ext cx="9090718" cy="8624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64"/>
              </a:lnSpc>
            </a:pPr>
            <a:r>
              <a:rPr lang="en-US" sz="5045" b="1" spc="-247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Key Features &amp; Outcomes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860761" y="2058889"/>
            <a:ext cx="10978624" cy="7599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779"/>
              </a:lnSpc>
            </a:pPr>
            <a:endParaRPr/>
          </a:p>
          <a:p>
            <a:pPr marL="582930" lvl="1" indent="-291465" algn="just">
              <a:lnSpc>
                <a:spcPts val="3779"/>
              </a:lnSpc>
              <a:buFont typeface="Arial"/>
              <a:buChar char="•"/>
            </a:pPr>
            <a:r>
              <a:rPr lang="en-US" sz="2700" spc="-132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Simulated peer-to-peer node communication.</a:t>
            </a:r>
          </a:p>
          <a:p>
            <a:pPr algn="just">
              <a:lnSpc>
                <a:spcPts val="3779"/>
              </a:lnSpc>
            </a:pPr>
            <a:endParaRPr lang="en-US" sz="2700" spc="-132">
              <a:solidFill>
                <a:srgbClr val="FFFFFF"/>
              </a:solidFill>
              <a:latin typeface="Garet"/>
              <a:ea typeface="Garet"/>
              <a:cs typeface="Garet"/>
              <a:sym typeface="Garet"/>
            </a:endParaRPr>
          </a:p>
          <a:p>
            <a:pPr marL="582930" lvl="1" indent="-291465" algn="just">
              <a:lnSpc>
                <a:spcPts val="3779"/>
              </a:lnSpc>
              <a:buFont typeface="Arial"/>
              <a:buChar char="•"/>
            </a:pPr>
            <a:r>
              <a:rPr lang="en-US" sz="2700" spc="-132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Real-time gossip message transmission.</a:t>
            </a:r>
          </a:p>
          <a:p>
            <a:pPr algn="just">
              <a:lnSpc>
                <a:spcPts val="3779"/>
              </a:lnSpc>
            </a:pPr>
            <a:endParaRPr lang="en-US" sz="2700" spc="-132">
              <a:solidFill>
                <a:srgbClr val="FFFFFF"/>
              </a:solidFill>
              <a:latin typeface="Garet"/>
              <a:ea typeface="Garet"/>
              <a:cs typeface="Garet"/>
              <a:sym typeface="Garet"/>
            </a:endParaRPr>
          </a:p>
          <a:p>
            <a:pPr marL="582930" lvl="1" indent="-291465" algn="just">
              <a:lnSpc>
                <a:spcPts val="3779"/>
              </a:lnSpc>
              <a:buFont typeface="Arial"/>
              <a:buChar char="•"/>
            </a:pPr>
            <a:r>
              <a:rPr lang="en-US" sz="2700" spc="-132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Persistent storage using LevelDB.</a:t>
            </a:r>
          </a:p>
          <a:p>
            <a:pPr algn="just">
              <a:lnSpc>
                <a:spcPts val="3779"/>
              </a:lnSpc>
            </a:pPr>
            <a:endParaRPr lang="en-US" sz="2700" spc="-132">
              <a:solidFill>
                <a:srgbClr val="FFFFFF"/>
              </a:solidFill>
              <a:latin typeface="Garet"/>
              <a:ea typeface="Garet"/>
              <a:cs typeface="Garet"/>
              <a:sym typeface="Garet"/>
            </a:endParaRPr>
          </a:p>
          <a:p>
            <a:pPr marL="582930" lvl="1" indent="-291465" algn="just">
              <a:lnSpc>
                <a:spcPts val="3779"/>
              </a:lnSpc>
              <a:buFont typeface="Arial"/>
              <a:buChar char="•"/>
            </a:pPr>
            <a:r>
              <a:rPr lang="en-US" sz="2700" spc="-132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Integrated API and frontend for seamless interaction.</a:t>
            </a:r>
          </a:p>
          <a:p>
            <a:pPr algn="just">
              <a:lnSpc>
                <a:spcPts val="3779"/>
              </a:lnSpc>
            </a:pPr>
            <a:endParaRPr lang="en-US" sz="2700" spc="-132">
              <a:solidFill>
                <a:srgbClr val="FFFFFF"/>
              </a:solidFill>
              <a:latin typeface="Garet"/>
              <a:ea typeface="Garet"/>
              <a:cs typeface="Garet"/>
              <a:sym typeface="Garet"/>
            </a:endParaRPr>
          </a:p>
          <a:p>
            <a:pPr marL="582930" lvl="1" indent="-291465" algn="just">
              <a:lnSpc>
                <a:spcPts val="3779"/>
              </a:lnSpc>
              <a:buFont typeface="Arial"/>
              <a:buChar char="•"/>
            </a:pPr>
            <a:r>
              <a:rPr lang="en-US" sz="2700" spc="-132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Modular design separating nodes, server, and dashboard.</a:t>
            </a:r>
          </a:p>
          <a:p>
            <a:pPr algn="just">
              <a:lnSpc>
                <a:spcPts val="3779"/>
              </a:lnSpc>
            </a:pPr>
            <a:endParaRPr lang="en-US" sz="2700" spc="-132">
              <a:solidFill>
                <a:srgbClr val="FFFFFF"/>
              </a:solidFill>
              <a:latin typeface="Garet"/>
              <a:ea typeface="Garet"/>
              <a:cs typeface="Garet"/>
              <a:sym typeface="Garet"/>
            </a:endParaRPr>
          </a:p>
          <a:p>
            <a:pPr marL="582930" lvl="1" indent="-291465" algn="just">
              <a:lnSpc>
                <a:spcPts val="3779"/>
              </a:lnSpc>
              <a:buFont typeface="Arial"/>
              <a:buChar char="•"/>
            </a:pPr>
            <a:r>
              <a:rPr lang="en-US" sz="2700" spc="-132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Outcome: Functional minimum viable product demonstrating node communication and ledger operations, providing a foundation for further enhancements like consensus mechanisms and scalability.​</a:t>
            </a:r>
          </a:p>
          <a:p>
            <a:pPr algn="just">
              <a:lnSpc>
                <a:spcPts val="3779"/>
              </a:lnSpc>
            </a:pPr>
            <a:endParaRPr lang="en-US" sz="2700" spc="-132">
              <a:solidFill>
                <a:srgbClr val="FFFFFF"/>
              </a:solidFill>
              <a:latin typeface="Garet"/>
              <a:ea typeface="Garet"/>
              <a:cs typeface="Garet"/>
              <a:sym typeface="Gare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 flipV="1">
            <a:off x="14777153" y="-3510847"/>
            <a:ext cx="7021693" cy="7021693"/>
          </a:xfrm>
          <a:custGeom>
            <a:avLst/>
            <a:gdLst/>
            <a:ahLst/>
            <a:cxnLst/>
            <a:rect l="l" t="t" r="r" b="b"/>
            <a:pathLst>
              <a:path w="7021693" h="7021693">
                <a:moveTo>
                  <a:pt x="7021694" y="7021694"/>
                </a:moveTo>
                <a:lnTo>
                  <a:pt x="0" y="7021694"/>
                </a:lnTo>
                <a:lnTo>
                  <a:pt x="0" y="0"/>
                </a:lnTo>
                <a:lnTo>
                  <a:pt x="7021694" y="0"/>
                </a:lnTo>
                <a:lnTo>
                  <a:pt x="7021694" y="7021694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-2395883" y="8227349"/>
            <a:ext cx="4123803" cy="2061902"/>
          </a:xfrm>
          <a:custGeom>
            <a:avLst/>
            <a:gdLst/>
            <a:ahLst/>
            <a:cxnLst/>
            <a:rect l="l" t="t" r="r" b="b"/>
            <a:pathLst>
              <a:path w="4123803" h="2061902">
                <a:moveTo>
                  <a:pt x="0" y="0"/>
                </a:moveTo>
                <a:lnTo>
                  <a:pt x="4123803" y="0"/>
                </a:lnTo>
                <a:lnTo>
                  <a:pt x="4123803" y="2061902"/>
                </a:lnTo>
                <a:lnTo>
                  <a:pt x="0" y="206190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1727920" y="177835"/>
            <a:ext cx="9126387" cy="1539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96"/>
              </a:lnSpc>
            </a:pPr>
            <a:r>
              <a:rPr lang="en-US" sz="9069" spc="-444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Industry Impact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727920" y="1873099"/>
            <a:ext cx="12721619" cy="10979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919"/>
              </a:lnSpc>
            </a:pPr>
            <a:r>
              <a:rPr lang="en-US" sz="2799" b="1" spc="-137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1. Faster &amp; Reliable Blockchain Nodes</a:t>
            </a:r>
          </a:p>
          <a:p>
            <a:pPr algn="just">
              <a:lnSpc>
                <a:spcPts val="3779"/>
              </a:lnSpc>
            </a:pPr>
            <a:endParaRPr lang="en-US" sz="2799" b="1" spc="-137">
              <a:solidFill>
                <a:srgbClr val="FFFFFF"/>
              </a:solidFill>
              <a:latin typeface="Garet Bold"/>
              <a:ea typeface="Garet Bold"/>
              <a:cs typeface="Garet Bold"/>
              <a:sym typeface="Garet Bold"/>
            </a:endParaRPr>
          </a:p>
          <a:p>
            <a:pPr algn="just">
              <a:lnSpc>
                <a:spcPts val="3779"/>
              </a:lnSpc>
            </a:pPr>
            <a:r>
              <a:rPr lang="en-US" sz="2700" b="1" spc="-132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What it means:</a:t>
            </a:r>
            <a:r>
              <a:rPr lang="en-US" sz="2700" spc="-132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 Blockchain networks consist of many nodes (computers) that store and verify transactions.</a:t>
            </a:r>
          </a:p>
          <a:p>
            <a:pPr algn="just">
              <a:lnSpc>
                <a:spcPts val="3779"/>
              </a:lnSpc>
            </a:pPr>
            <a:r>
              <a:rPr lang="en-US" sz="2700" spc="-132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I</a:t>
            </a:r>
            <a:r>
              <a:rPr lang="en-US" sz="2700" b="1" spc="-132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mpact:</a:t>
            </a:r>
            <a:r>
              <a:rPr lang="en-US" sz="2700" spc="-132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 Improving their speed and reliability means transactions are processed quicker and the network is more stable.</a:t>
            </a:r>
          </a:p>
          <a:p>
            <a:pPr algn="just">
              <a:lnSpc>
                <a:spcPts val="3779"/>
              </a:lnSpc>
            </a:pPr>
            <a:r>
              <a:rPr lang="en-US" sz="2700" b="1" spc="-132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Why it matters:</a:t>
            </a:r>
            <a:r>
              <a:rPr lang="en-US" sz="2700" spc="-132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 This is essential for making blockchain systems scalable and user-friendly (e.g., faster payments).</a:t>
            </a:r>
          </a:p>
          <a:p>
            <a:pPr algn="just">
              <a:lnSpc>
                <a:spcPts val="3779"/>
              </a:lnSpc>
            </a:pPr>
            <a:endParaRPr lang="en-US" sz="2700" spc="-132">
              <a:solidFill>
                <a:srgbClr val="FFFFFF"/>
              </a:solidFill>
              <a:latin typeface="Garet"/>
              <a:ea typeface="Garet"/>
              <a:cs typeface="Garet"/>
              <a:sym typeface="Garet"/>
            </a:endParaRPr>
          </a:p>
          <a:p>
            <a:pPr algn="just">
              <a:lnSpc>
                <a:spcPts val="3919"/>
              </a:lnSpc>
            </a:pPr>
            <a:r>
              <a:rPr lang="en-US" sz="2799" b="1" spc="-137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2. Stronger Network Security</a:t>
            </a:r>
          </a:p>
          <a:p>
            <a:pPr algn="just">
              <a:lnSpc>
                <a:spcPts val="3779"/>
              </a:lnSpc>
            </a:pPr>
            <a:endParaRPr lang="en-US" sz="2799" b="1" spc="-137">
              <a:solidFill>
                <a:srgbClr val="FFFFFF"/>
              </a:solidFill>
              <a:latin typeface="Garet Bold"/>
              <a:ea typeface="Garet Bold"/>
              <a:cs typeface="Garet Bold"/>
              <a:sym typeface="Garet Bold"/>
            </a:endParaRPr>
          </a:p>
          <a:p>
            <a:pPr algn="just">
              <a:lnSpc>
                <a:spcPts val="3779"/>
              </a:lnSpc>
            </a:pPr>
            <a:r>
              <a:rPr lang="en-US" sz="2700" b="1" spc="-132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DoS Protection: </a:t>
            </a:r>
            <a:r>
              <a:rPr lang="en-US" sz="2700" spc="-132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Prevents "Denial of Service" attacks, which try to flood the network with fake traffic and shut it down.</a:t>
            </a:r>
          </a:p>
          <a:p>
            <a:pPr algn="just">
              <a:lnSpc>
                <a:spcPts val="3779"/>
              </a:lnSpc>
            </a:pPr>
            <a:r>
              <a:rPr lang="en-US" sz="2700" b="1" spc="-132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Gossip Protocol: </a:t>
            </a:r>
            <a:r>
              <a:rPr lang="en-US" sz="2700" spc="-132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A method nodes use to spread information quickly and efficiently, like how rumors spread in a crowd.</a:t>
            </a:r>
          </a:p>
          <a:p>
            <a:pPr algn="just">
              <a:lnSpc>
                <a:spcPts val="3779"/>
              </a:lnSpc>
            </a:pPr>
            <a:r>
              <a:rPr lang="en-US" sz="2700" b="1" spc="-132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Impact:</a:t>
            </a:r>
            <a:r>
              <a:rPr lang="en-US" sz="2700" spc="-132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 Together, they make the network more secure and ensure all nodes stay updated reliably.</a:t>
            </a:r>
          </a:p>
          <a:p>
            <a:pPr algn="just">
              <a:lnSpc>
                <a:spcPts val="3779"/>
              </a:lnSpc>
            </a:pPr>
            <a:endParaRPr lang="en-US" sz="2700" spc="-132">
              <a:solidFill>
                <a:srgbClr val="FFFFFF"/>
              </a:solidFill>
              <a:latin typeface="Garet"/>
              <a:ea typeface="Garet"/>
              <a:cs typeface="Garet"/>
              <a:sym typeface="Garet"/>
            </a:endParaRPr>
          </a:p>
          <a:p>
            <a:pPr algn="just">
              <a:lnSpc>
                <a:spcPts val="3779"/>
              </a:lnSpc>
            </a:pPr>
            <a:endParaRPr lang="en-US" sz="2700" spc="-132">
              <a:solidFill>
                <a:srgbClr val="FFFFFF"/>
              </a:solidFill>
              <a:latin typeface="Garet"/>
              <a:ea typeface="Garet"/>
              <a:cs typeface="Garet"/>
              <a:sym typeface="Garet"/>
            </a:endParaRPr>
          </a:p>
          <a:p>
            <a:pPr algn="just">
              <a:lnSpc>
                <a:spcPts val="3779"/>
              </a:lnSpc>
            </a:pPr>
            <a:endParaRPr lang="en-US" sz="2700" spc="-132">
              <a:solidFill>
                <a:srgbClr val="FFFFFF"/>
              </a:solidFill>
              <a:latin typeface="Garet"/>
              <a:ea typeface="Garet"/>
              <a:cs typeface="Garet"/>
              <a:sym typeface="Garet"/>
            </a:endParaRPr>
          </a:p>
          <a:p>
            <a:pPr algn="just">
              <a:lnSpc>
                <a:spcPts val="3779"/>
              </a:lnSpc>
            </a:pPr>
            <a:r>
              <a:rPr lang="en-US" sz="2700" spc="-132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---</a:t>
            </a:r>
          </a:p>
          <a:p>
            <a:pPr algn="just">
              <a:lnSpc>
                <a:spcPts val="3779"/>
              </a:lnSpc>
            </a:pPr>
            <a:endParaRPr lang="en-US" sz="2700" spc="-132">
              <a:solidFill>
                <a:srgbClr val="FFFFFF"/>
              </a:solidFill>
              <a:latin typeface="Garet"/>
              <a:ea typeface="Garet"/>
              <a:cs typeface="Garet"/>
              <a:sym typeface="Garet"/>
            </a:endParaRPr>
          </a:p>
          <a:p>
            <a:pPr algn="just">
              <a:lnSpc>
                <a:spcPts val="3779"/>
              </a:lnSpc>
            </a:pPr>
            <a:r>
              <a:rPr lang="en-US" sz="2700" spc="-132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Let me know if you'd like this turned into a diagram or simplified even more!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 flipV="1">
            <a:off x="14449539" y="-3510847"/>
            <a:ext cx="7021693" cy="7021693"/>
          </a:xfrm>
          <a:custGeom>
            <a:avLst/>
            <a:gdLst/>
            <a:ahLst/>
            <a:cxnLst/>
            <a:rect l="l" t="t" r="r" b="b"/>
            <a:pathLst>
              <a:path w="7021693" h="7021693">
                <a:moveTo>
                  <a:pt x="7021694" y="7021694"/>
                </a:moveTo>
                <a:lnTo>
                  <a:pt x="0" y="7021694"/>
                </a:lnTo>
                <a:lnTo>
                  <a:pt x="0" y="0"/>
                </a:lnTo>
                <a:lnTo>
                  <a:pt x="7021694" y="0"/>
                </a:lnTo>
                <a:lnTo>
                  <a:pt x="7021694" y="7021694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-2395883" y="8227349"/>
            <a:ext cx="4123803" cy="2061902"/>
          </a:xfrm>
          <a:custGeom>
            <a:avLst/>
            <a:gdLst/>
            <a:ahLst/>
            <a:cxnLst/>
            <a:rect l="l" t="t" r="r" b="b"/>
            <a:pathLst>
              <a:path w="4123803" h="2061902">
                <a:moveTo>
                  <a:pt x="0" y="0"/>
                </a:moveTo>
                <a:lnTo>
                  <a:pt x="4123803" y="0"/>
                </a:lnTo>
                <a:lnTo>
                  <a:pt x="4123803" y="2061902"/>
                </a:lnTo>
                <a:lnTo>
                  <a:pt x="0" y="206190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1439252" y="971550"/>
            <a:ext cx="12721619" cy="821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919"/>
              </a:lnSpc>
            </a:pPr>
            <a:r>
              <a:rPr lang="en-US" sz="2799" b="1" spc="-137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3. Smarter Ledger Design (using LwDAP)</a:t>
            </a:r>
          </a:p>
          <a:p>
            <a:pPr algn="just">
              <a:lnSpc>
                <a:spcPts val="3919"/>
              </a:lnSpc>
            </a:pPr>
            <a:endParaRPr lang="en-US" sz="2799" b="1" spc="-137">
              <a:solidFill>
                <a:srgbClr val="FFFFFF"/>
              </a:solidFill>
              <a:latin typeface="Garet Bold"/>
              <a:ea typeface="Garet Bold"/>
              <a:cs typeface="Garet Bold"/>
              <a:sym typeface="Garet Bold"/>
            </a:endParaRPr>
          </a:p>
          <a:p>
            <a:pPr algn="just">
              <a:lnSpc>
                <a:spcPts val="3779"/>
              </a:lnSpc>
            </a:pPr>
            <a:r>
              <a:rPr lang="en-US" sz="2700" b="1" spc="-132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LwDAP:</a:t>
            </a:r>
            <a:r>
              <a:rPr lang="en-US" sz="2700" spc="-132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 A framework or method that helps in analyzing and choosing the best structure for the blockchain ledger.</a:t>
            </a:r>
          </a:p>
          <a:p>
            <a:pPr algn="just">
              <a:lnSpc>
                <a:spcPts val="3779"/>
              </a:lnSpc>
            </a:pPr>
            <a:r>
              <a:rPr lang="en-US" sz="2700" b="1" spc="-132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Ledger:</a:t>
            </a:r>
            <a:r>
              <a:rPr lang="en-US" sz="2700" spc="-132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 A digital record of all transactions in the blockchain.</a:t>
            </a:r>
          </a:p>
          <a:p>
            <a:pPr algn="just">
              <a:lnSpc>
                <a:spcPts val="3779"/>
              </a:lnSpc>
            </a:pPr>
            <a:r>
              <a:rPr lang="en-US" sz="2700" b="1" spc="-132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Impact: </a:t>
            </a:r>
            <a:r>
              <a:rPr lang="en-US" sz="2700" spc="-132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Leads to better organization, performance, and adaptability of the blockchain system.</a:t>
            </a:r>
          </a:p>
          <a:p>
            <a:pPr algn="just">
              <a:lnSpc>
                <a:spcPts val="3919"/>
              </a:lnSpc>
            </a:pPr>
            <a:endParaRPr lang="en-US" sz="2700" spc="-132">
              <a:solidFill>
                <a:srgbClr val="FFFFFF"/>
              </a:solidFill>
              <a:latin typeface="Garet"/>
              <a:ea typeface="Garet"/>
              <a:cs typeface="Garet"/>
              <a:sym typeface="Garet"/>
            </a:endParaRPr>
          </a:p>
          <a:p>
            <a:pPr algn="just">
              <a:lnSpc>
                <a:spcPts val="3919"/>
              </a:lnSpc>
            </a:pPr>
            <a:endParaRPr lang="en-US" sz="2700" spc="-132">
              <a:solidFill>
                <a:srgbClr val="FFFFFF"/>
              </a:solidFill>
              <a:latin typeface="Garet"/>
              <a:ea typeface="Garet"/>
              <a:cs typeface="Garet"/>
              <a:sym typeface="Garet"/>
            </a:endParaRPr>
          </a:p>
          <a:p>
            <a:pPr algn="just">
              <a:lnSpc>
                <a:spcPts val="3919"/>
              </a:lnSpc>
            </a:pPr>
            <a:r>
              <a:rPr lang="en-US" sz="2799" b="1" spc="-137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4. Trends &amp; Evolution Insight</a:t>
            </a:r>
          </a:p>
          <a:p>
            <a:pPr algn="just">
              <a:lnSpc>
                <a:spcPts val="3919"/>
              </a:lnSpc>
            </a:pPr>
            <a:endParaRPr lang="en-US" sz="2799" b="1" spc="-137">
              <a:solidFill>
                <a:srgbClr val="FFFFFF"/>
              </a:solidFill>
              <a:latin typeface="Garet Bold"/>
              <a:ea typeface="Garet Bold"/>
              <a:cs typeface="Garet Bold"/>
              <a:sym typeface="Garet Bold"/>
            </a:endParaRPr>
          </a:p>
          <a:p>
            <a:pPr algn="just">
              <a:lnSpc>
                <a:spcPts val="3779"/>
              </a:lnSpc>
            </a:pPr>
            <a:r>
              <a:rPr lang="en-US" sz="2700" b="1" spc="-132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What it does:</a:t>
            </a:r>
            <a:r>
              <a:rPr lang="en-US" sz="2700" spc="-132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 Monitors and analyzes changes in the blockchain industry.</a:t>
            </a:r>
          </a:p>
          <a:p>
            <a:pPr algn="just">
              <a:lnSpc>
                <a:spcPts val="3779"/>
              </a:lnSpc>
            </a:pPr>
            <a:r>
              <a:rPr lang="en-US" sz="2700" b="1" spc="-132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Impact:</a:t>
            </a:r>
            <a:r>
              <a:rPr lang="en-US" sz="2700" spc="-132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 Helps companies and developers stay updated with new technologies, upgrades, or standards.</a:t>
            </a:r>
          </a:p>
          <a:p>
            <a:pPr algn="just">
              <a:lnSpc>
                <a:spcPts val="3779"/>
              </a:lnSpc>
            </a:pPr>
            <a:r>
              <a:rPr lang="en-US" sz="2700" b="1" spc="-132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Why it matters:</a:t>
            </a:r>
            <a:r>
              <a:rPr lang="en-US" sz="2700" spc="-132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 Staying ahead ensures competitiveness and innovation.</a:t>
            </a:r>
          </a:p>
          <a:p>
            <a:pPr algn="just">
              <a:lnSpc>
                <a:spcPts val="3919"/>
              </a:lnSpc>
            </a:pPr>
            <a:endParaRPr lang="en-US" sz="2700" spc="-132">
              <a:solidFill>
                <a:srgbClr val="FFFFFF"/>
              </a:solidFill>
              <a:latin typeface="Garet"/>
              <a:ea typeface="Garet"/>
              <a:cs typeface="Garet"/>
              <a:sym typeface="Garet"/>
            </a:endParaRPr>
          </a:p>
          <a:p>
            <a:pPr algn="just">
              <a:lnSpc>
                <a:spcPts val="3779"/>
              </a:lnSpc>
            </a:pPr>
            <a:endParaRPr lang="en-US" sz="2700" spc="-132">
              <a:solidFill>
                <a:srgbClr val="FFFFFF"/>
              </a:solidFill>
              <a:latin typeface="Garet"/>
              <a:ea typeface="Garet"/>
              <a:cs typeface="Garet"/>
              <a:sym typeface="Gare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 flipV="1">
            <a:off x="14449539" y="-3510847"/>
            <a:ext cx="7021693" cy="7021693"/>
          </a:xfrm>
          <a:custGeom>
            <a:avLst/>
            <a:gdLst/>
            <a:ahLst/>
            <a:cxnLst/>
            <a:rect l="l" t="t" r="r" b="b"/>
            <a:pathLst>
              <a:path w="7021693" h="7021693">
                <a:moveTo>
                  <a:pt x="7021694" y="7021694"/>
                </a:moveTo>
                <a:lnTo>
                  <a:pt x="0" y="7021694"/>
                </a:lnTo>
                <a:lnTo>
                  <a:pt x="0" y="0"/>
                </a:lnTo>
                <a:lnTo>
                  <a:pt x="7021694" y="0"/>
                </a:lnTo>
                <a:lnTo>
                  <a:pt x="7021694" y="7021694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-2395883" y="8227349"/>
            <a:ext cx="4123803" cy="2061902"/>
          </a:xfrm>
          <a:custGeom>
            <a:avLst/>
            <a:gdLst/>
            <a:ahLst/>
            <a:cxnLst/>
            <a:rect l="l" t="t" r="r" b="b"/>
            <a:pathLst>
              <a:path w="4123803" h="2061902">
                <a:moveTo>
                  <a:pt x="0" y="0"/>
                </a:moveTo>
                <a:lnTo>
                  <a:pt x="4123803" y="0"/>
                </a:lnTo>
                <a:lnTo>
                  <a:pt x="4123803" y="2061902"/>
                </a:lnTo>
                <a:lnTo>
                  <a:pt x="0" y="206190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1360524" y="1530350"/>
            <a:ext cx="12590407" cy="7169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919"/>
              </a:lnSpc>
            </a:pPr>
            <a:r>
              <a:rPr lang="en-US" sz="2799" b="1" spc="-137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5. Testing &amp; Simulation</a:t>
            </a:r>
          </a:p>
          <a:p>
            <a:pPr algn="just">
              <a:lnSpc>
                <a:spcPts val="3919"/>
              </a:lnSpc>
            </a:pPr>
            <a:endParaRPr lang="en-US" sz="2799" b="1" spc="-137">
              <a:solidFill>
                <a:srgbClr val="FFFFFF"/>
              </a:solidFill>
              <a:latin typeface="Garet Bold"/>
              <a:ea typeface="Garet Bold"/>
              <a:cs typeface="Garet Bold"/>
              <a:sym typeface="Garet Bold"/>
            </a:endParaRPr>
          </a:p>
          <a:p>
            <a:pPr algn="just">
              <a:lnSpc>
                <a:spcPts val="3779"/>
              </a:lnSpc>
            </a:pPr>
            <a:r>
              <a:rPr lang="en-US" sz="2700" b="1" spc="-132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Best-of-breed testing:</a:t>
            </a:r>
            <a:r>
              <a:rPr lang="en-US" sz="2700" spc="-132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 Using top-quality tools to simulate real-world blockchain behavior.</a:t>
            </a:r>
          </a:p>
          <a:p>
            <a:pPr algn="just">
              <a:lnSpc>
                <a:spcPts val="3779"/>
              </a:lnSpc>
            </a:pPr>
            <a:r>
              <a:rPr lang="en-US" sz="2700" spc="-132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I</a:t>
            </a:r>
            <a:r>
              <a:rPr lang="en-US" sz="2700" b="1" spc="-132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mpact:</a:t>
            </a:r>
            <a:r>
              <a:rPr lang="en-US" sz="2700" spc="-132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 Lets developers test their networks safely before launch, finding bugs or weaknesses early.</a:t>
            </a:r>
          </a:p>
          <a:p>
            <a:pPr algn="just">
              <a:lnSpc>
                <a:spcPts val="3779"/>
              </a:lnSpc>
            </a:pPr>
            <a:r>
              <a:rPr lang="en-US" sz="2700" b="1" spc="-132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Why it matters:</a:t>
            </a:r>
            <a:r>
              <a:rPr lang="en-US" sz="2700" spc="-132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 Prevents costly failures and improves user trust.</a:t>
            </a:r>
          </a:p>
          <a:p>
            <a:pPr algn="just">
              <a:lnSpc>
                <a:spcPts val="3779"/>
              </a:lnSpc>
            </a:pPr>
            <a:endParaRPr lang="en-US" sz="2700" spc="-132">
              <a:solidFill>
                <a:srgbClr val="FFFFFF"/>
              </a:solidFill>
              <a:latin typeface="Garet"/>
              <a:ea typeface="Garet"/>
              <a:cs typeface="Garet"/>
              <a:sym typeface="Garet"/>
            </a:endParaRPr>
          </a:p>
          <a:p>
            <a:pPr algn="just">
              <a:lnSpc>
                <a:spcPts val="3779"/>
              </a:lnSpc>
            </a:pPr>
            <a:r>
              <a:rPr lang="en-US" sz="2700" spc="-132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Web3 is a decentralized version of the internet, where users have control over their data, identities, and assets using blockchain technology.</a:t>
            </a:r>
          </a:p>
          <a:p>
            <a:pPr algn="just">
              <a:lnSpc>
                <a:spcPts val="3779"/>
              </a:lnSpc>
            </a:pPr>
            <a:endParaRPr lang="en-US" sz="2700" spc="-132">
              <a:solidFill>
                <a:srgbClr val="FFFFFF"/>
              </a:solidFill>
              <a:latin typeface="Garet"/>
              <a:ea typeface="Garet"/>
              <a:cs typeface="Garet"/>
              <a:sym typeface="Garet"/>
            </a:endParaRPr>
          </a:p>
          <a:p>
            <a:pPr algn="just">
              <a:lnSpc>
                <a:spcPts val="3779"/>
              </a:lnSpc>
            </a:pPr>
            <a:r>
              <a:rPr lang="en-US" sz="2700" b="1" spc="-132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1. Decentralization-</a:t>
            </a:r>
            <a:r>
              <a:rPr lang="en-US" sz="2700" spc="-132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 No central authority (like Facebook or Google); instead, apps run on blockchains or peer-to-peer networks.</a:t>
            </a:r>
          </a:p>
          <a:p>
            <a:pPr algn="just">
              <a:lnSpc>
                <a:spcPts val="3779"/>
              </a:lnSpc>
            </a:pPr>
            <a:r>
              <a:rPr lang="en-US" sz="2700" b="1" spc="-132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2. Ownership-</a:t>
            </a:r>
            <a:r>
              <a:rPr lang="en-US" sz="2700" spc="-132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Users truly own their data, digital items (like NFTs), and money (like crypto wallets).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145308" y="1382530"/>
            <a:ext cx="7877899" cy="26634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928"/>
              </a:lnSpc>
            </a:pPr>
            <a:r>
              <a:rPr lang="en-US" sz="15663" b="1" spc="-767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Thank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145308" y="2953521"/>
            <a:ext cx="7448908" cy="4118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335"/>
              </a:lnSpc>
            </a:pPr>
            <a:r>
              <a:rPr lang="en-US" sz="23810" spc="-1166" dirty="0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You</a:t>
            </a:r>
          </a:p>
        </p:txBody>
      </p:sp>
      <p:sp>
        <p:nvSpPr>
          <p:cNvPr id="4" name="Freeform 4"/>
          <p:cNvSpPr/>
          <p:nvPr/>
        </p:nvSpPr>
        <p:spPr>
          <a:xfrm>
            <a:off x="10366899" y="1049031"/>
            <a:ext cx="5983088" cy="5993986"/>
          </a:xfrm>
          <a:custGeom>
            <a:avLst/>
            <a:gdLst/>
            <a:ahLst/>
            <a:cxnLst/>
            <a:rect l="l" t="t" r="r" b="b"/>
            <a:pathLst>
              <a:path w="5983088" h="5993986">
                <a:moveTo>
                  <a:pt x="0" y="0"/>
                </a:moveTo>
                <a:lnTo>
                  <a:pt x="5983088" y="0"/>
                </a:lnTo>
                <a:lnTo>
                  <a:pt x="5983088" y="5993987"/>
                </a:lnTo>
                <a:lnTo>
                  <a:pt x="0" y="599398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 flipH="1">
            <a:off x="8428886" y="7883598"/>
            <a:ext cx="9859114" cy="1487830"/>
          </a:xfrm>
          <a:custGeom>
            <a:avLst/>
            <a:gdLst/>
            <a:ahLst/>
            <a:cxnLst/>
            <a:rect l="l" t="t" r="r" b="b"/>
            <a:pathLst>
              <a:path w="9859114" h="1487830">
                <a:moveTo>
                  <a:pt x="9859114" y="0"/>
                </a:moveTo>
                <a:lnTo>
                  <a:pt x="0" y="0"/>
                </a:lnTo>
                <a:lnTo>
                  <a:pt x="0" y="1487830"/>
                </a:lnTo>
                <a:lnTo>
                  <a:pt x="9859114" y="1487830"/>
                </a:lnTo>
                <a:lnTo>
                  <a:pt x="9859114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8891902" y="7968382"/>
            <a:ext cx="8367398" cy="12515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39"/>
              </a:lnSpc>
            </a:pPr>
            <a:r>
              <a:rPr lang="en-US" sz="3599" spc="-176" dirty="0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Thanks for this amazing opportunity! Diamante V2 Hackathon </a:t>
            </a:r>
          </a:p>
        </p:txBody>
      </p:sp>
      <p:sp>
        <p:nvSpPr>
          <p:cNvPr id="7" name="Freeform 7"/>
          <p:cNvSpPr/>
          <p:nvPr/>
        </p:nvSpPr>
        <p:spPr>
          <a:xfrm>
            <a:off x="766274" y="459959"/>
            <a:ext cx="1192068" cy="649584"/>
          </a:xfrm>
          <a:custGeom>
            <a:avLst/>
            <a:gdLst/>
            <a:ahLst/>
            <a:cxnLst/>
            <a:rect l="l" t="t" r="r" b="b"/>
            <a:pathLst>
              <a:path w="1192068" h="649584">
                <a:moveTo>
                  <a:pt x="0" y="0"/>
                </a:moveTo>
                <a:lnTo>
                  <a:pt x="1192068" y="0"/>
                </a:lnTo>
                <a:lnTo>
                  <a:pt x="1192068" y="649583"/>
                </a:lnTo>
                <a:lnTo>
                  <a:pt x="0" y="64958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TextBox 8"/>
          <p:cNvSpPr txBox="1"/>
          <p:nvPr/>
        </p:nvSpPr>
        <p:spPr>
          <a:xfrm>
            <a:off x="1958342" y="393284"/>
            <a:ext cx="5787673" cy="6299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79"/>
              </a:lnSpc>
            </a:pPr>
            <a:r>
              <a:rPr lang="en-US" sz="3699" b="1" spc="-181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Diamante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D0EE7D-69EA-6131-B449-FB67E3FA42CE}"/>
              </a:ext>
            </a:extLst>
          </p:cNvPr>
          <p:cNvSpPr txBox="1"/>
          <p:nvPr/>
        </p:nvSpPr>
        <p:spPr>
          <a:xfrm>
            <a:off x="879207" y="6444888"/>
            <a:ext cx="914400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spc="-176" dirty="0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Team Members: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400" spc="-176" dirty="0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Zuhair Atham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400" spc="-176" dirty="0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Abhijit  Lakshmandass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400" spc="-176" dirty="0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Anuraag 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400" spc="-176" dirty="0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Rayn 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400" spc="-176" dirty="0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Sajjad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400" spc="-176" dirty="0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Sahal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400" spc="-176" dirty="0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Abdul Kader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611</Words>
  <Application>Microsoft Office PowerPoint</Application>
  <PresentationFormat>Custom</PresentationFormat>
  <Paragraphs>92</Paragraphs>
  <Slides>11</Slides>
  <Notes>0</Notes>
  <HiddenSlides>0</HiddenSlides>
  <MMClips>2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Garet Bold</vt:lpstr>
      <vt:lpstr>Arial</vt:lpstr>
      <vt:lpstr>Garet</vt:lpstr>
      <vt:lpstr>Calibri</vt:lpstr>
      <vt:lpstr>Canva Sans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TECHSENATE</dc:title>
  <cp:lastModifiedBy>zuhair atham</cp:lastModifiedBy>
  <cp:revision>2</cp:revision>
  <dcterms:created xsi:type="dcterms:W3CDTF">2006-08-16T00:00:00Z</dcterms:created>
  <dcterms:modified xsi:type="dcterms:W3CDTF">2025-05-01T08:20:13Z</dcterms:modified>
  <dc:identifier>DAGmLZhgE6I</dc:identifier>
</cp:coreProperties>
</file>