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" charset="1" panose="00000000000000000000"/>
      <p:regular r:id="rId17"/>
    </p:embeddedFont>
    <p:embeddedFont>
      <p:font typeface="Garet Bold" charset="1" panose="00000000000000000000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jpeg" Type="http://schemas.openxmlformats.org/officeDocument/2006/relationships/image"/><Relationship Id="rId5" Target="../media/VAGmLvQsBsI.mp4" Type="http://schemas.openxmlformats.org/officeDocument/2006/relationships/video"/><Relationship Id="rId6" Target="../media/VAGmLvQsBsI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jpeg" Type="http://schemas.openxmlformats.org/officeDocument/2006/relationships/image"/><Relationship Id="rId5" Target="../media/VAGmL3-RR64.mp4" Type="http://schemas.openxmlformats.org/officeDocument/2006/relationships/video"/><Relationship Id="rId6" Target="../media/VAGmL3-RR64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541691" y="4106171"/>
            <a:ext cx="13325516" cy="6662758"/>
          </a:xfrm>
          <a:custGeom>
            <a:avLst/>
            <a:gdLst/>
            <a:ahLst/>
            <a:cxnLst/>
            <a:rect r="r" b="b" t="t" l="l"/>
            <a:pathLst>
              <a:path h="6662758" w="13325516">
                <a:moveTo>
                  <a:pt x="13325516" y="0"/>
                </a:moveTo>
                <a:lnTo>
                  <a:pt x="0" y="0"/>
                </a:lnTo>
                <a:lnTo>
                  <a:pt x="0" y="6662757"/>
                </a:lnTo>
                <a:lnTo>
                  <a:pt x="13325516" y="6662757"/>
                </a:lnTo>
                <a:lnTo>
                  <a:pt x="133255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6274" y="7878926"/>
            <a:ext cx="5493859" cy="689118"/>
            <a:chOff x="0" y="0"/>
            <a:chExt cx="1446942" cy="1814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6942" cy="181496"/>
            </a:xfrm>
            <a:custGeom>
              <a:avLst/>
              <a:gdLst/>
              <a:ahLst/>
              <a:cxnLst/>
              <a:rect r="r" b="b" t="t" l="l"/>
              <a:pathLst>
                <a:path h="181496" w="1446942">
                  <a:moveTo>
                    <a:pt x="71869" y="0"/>
                  </a:moveTo>
                  <a:lnTo>
                    <a:pt x="1375073" y="0"/>
                  </a:lnTo>
                  <a:cubicBezTo>
                    <a:pt x="1394134" y="0"/>
                    <a:pt x="1412414" y="7572"/>
                    <a:pt x="1425892" y="21050"/>
                  </a:cubicBezTo>
                  <a:cubicBezTo>
                    <a:pt x="1439370" y="34528"/>
                    <a:pt x="1446942" y="52808"/>
                    <a:pt x="1446942" y="71869"/>
                  </a:cubicBezTo>
                  <a:lnTo>
                    <a:pt x="1446942" y="109627"/>
                  </a:lnTo>
                  <a:cubicBezTo>
                    <a:pt x="1446942" y="128688"/>
                    <a:pt x="1439370" y="146968"/>
                    <a:pt x="1425892" y="160446"/>
                  </a:cubicBezTo>
                  <a:cubicBezTo>
                    <a:pt x="1412414" y="173924"/>
                    <a:pt x="1394134" y="181496"/>
                    <a:pt x="1375073" y="181496"/>
                  </a:cubicBezTo>
                  <a:lnTo>
                    <a:pt x="71869" y="181496"/>
                  </a:lnTo>
                  <a:cubicBezTo>
                    <a:pt x="52808" y="181496"/>
                    <a:pt x="34528" y="173924"/>
                    <a:pt x="21050" y="160446"/>
                  </a:cubicBezTo>
                  <a:cubicBezTo>
                    <a:pt x="7572" y="146968"/>
                    <a:pt x="0" y="128688"/>
                    <a:pt x="0" y="109627"/>
                  </a:cubicBezTo>
                  <a:lnTo>
                    <a:pt x="0" y="71869"/>
                  </a:lnTo>
                  <a:cubicBezTo>
                    <a:pt x="0" y="52808"/>
                    <a:pt x="7572" y="34528"/>
                    <a:pt x="21050" y="21050"/>
                  </a:cubicBezTo>
                  <a:cubicBezTo>
                    <a:pt x="34528" y="7572"/>
                    <a:pt x="52808" y="0"/>
                    <a:pt x="718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D9AC2">
                    <a:alpha val="100000"/>
                  </a:srgbClr>
                </a:gs>
                <a:gs pos="100000">
                  <a:srgbClr val="5039A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46942" cy="219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46215" y="0"/>
            <a:ext cx="4143375" cy="4143375"/>
          </a:xfrm>
          <a:custGeom>
            <a:avLst/>
            <a:gdLst/>
            <a:ahLst/>
            <a:cxnLst/>
            <a:rect r="r" b="b" t="t" l="l"/>
            <a:pathLst>
              <a:path h="4143375" w="4143375">
                <a:moveTo>
                  <a:pt x="0" y="0"/>
                </a:moveTo>
                <a:lnTo>
                  <a:pt x="4143375" y="0"/>
                </a:lnTo>
                <a:lnTo>
                  <a:pt x="4143375" y="4143375"/>
                </a:lnTo>
                <a:lnTo>
                  <a:pt x="0" y="4143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6274" y="459959"/>
            <a:ext cx="1192068" cy="649584"/>
          </a:xfrm>
          <a:custGeom>
            <a:avLst/>
            <a:gdLst/>
            <a:ahLst/>
            <a:cxnLst/>
            <a:rect r="r" b="b" t="t" l="l"/>
            <a:pathLst>
              <a:path h="649584" w="1192068">
                <a:moveTo>
                  <a:pt x="0" y="0"/>
                </a:moveTo>
                <a:lnTo>
                  <a:pt x="1192068" y="0"/>
                </a:lnTo>
                <a:lnTo>
                  <a:pt x="1192068" y="649583"/>
                </a:lnTo>
                <a:lnTo>
                  <a:pt x="0" y="649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6274" y="1695450"/>
            <a:ext cx="14964591" cy="473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spc="-44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Networking &amp; Storage Prototype using P2P &amp; Ledger Modules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564" y="7921121"/>
            <a:ext cx="5787673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151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NAME: TECHSENATE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58342" y="393284"/>
            <a:ext cx="5787673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spc="-181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Diamante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252787" y="2251787"/>
            <a:ext cx="10287000" cy="5783425"/>
          </a:xfrm>
          <a:custGeom>
            <a:avLst/>
            <a:gdLst/>
            <a:ahLst/>
            <a:cxnLst/>
            <a:rect r="r" b="b" t="t" l="l"/>
            <a:pathLst>
              <a:path h="5783425" w="10287000">
                <a:moveTo>
                  <a:pt x="0" y="0"/>
                </a:moveTo>
                <a:lnTo>
                  <a:pt x="10287000" y="0"/>
                </a:lnTo>
                <a:lnTo>
                  <a:pt x="10287000" y="5783426"/>
                </a:lnTo>
                <a:lnTo>
                  <a:pt x="0" y="5783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37399" y="-1783687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8" y="0"/>
                </a:lnTo>
                <a:lnTo>
                  <a:pt x="4958888" y="4958888"/>
                </a:lnTo>
                <a:lnTo>
                  <a:pt x="0" y="49588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09862" y="1192694"/>
            <a:ext cx="9636207" cy="1631572"/>
            <a:chOff x="0" y="0"/>
            <a:chExt cx="2537931" cy="4297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37931" cy="429714"/>
            </a:xfrm>
            <a:custGeom>
              <a:avLst/>
              <a:gdLst/>
              <a:ahLst/>
              <a:cxnLst/>
              <a:rect r="r" b="b" t="t" l="l"/>
              <a:pathLst>
                <a:path h="429714" w="2537931">
                  <a:moveTo>
                    <a:pt x="40974" y="0"/>
                  </a:moveTo>
                  <a:lnTo>
                    <a:pt x="2496957" y="0"/>
                  </a:lnTo>
                  <a:cubicBezTo>
                    <a:pt x="2507824" y="0"/>
                    <a:pt x="2518246" y="4317"/>
                    <a:pt x="2525930" y="12001"/>
                  </a:cubicBezTo>
                  <a:cubicBezTo>
                    <a:pt x="2533614" y="19685"/>
                    <a:pt x="2537931" y="30107"/>
                    <a:pt x="2537931" y="40974"/>
                  </a:cubicBezTo>
                  <a:lnTo>
                    <a:pt x="2537931" y="388740"/>
                  </a:lnTo>
                  <a:cubicBezTo>
                    <a:pt x="2537931" y="399607"/>
                    <a:pt x="2533614" y="410029"/>
                    <a:pt x="2525930" y="417713"/>
                  </a:cubicBezTo>
                  <a:cubicBezTo>
                    <a:pt x="2518246" y="425397"/>
                    <a:pt x="2507824" y="429714"/>
                    <a:pt x="2496957" y="429714"/>
                  </a:cubicBezTo>
                  <a:lnTo>
                    <a:pt x="40974" y="429714"/>
                  </a:lnTo>
                  <a:cubicBezTo>
                    <a:pt x="30107" y="429714"/>
                    <a:pt x="19685" y="425397"/>
                    <a:pt x="12001" y="417713"/>
                  </a:cubicBezTo>
                  <a:cubicBezTo>
                    <a:pt x="4317" y="410029"/>
                    <a:pt x="0" y="399607"/>
                    <a:pt x="0" y="388740"/>
                  </a:cubicBezTo>
                  <a:lnTo>
                    <a:pt x="0" y="40974"/>
                  </a:lnTo>
                  <a:cubicBezTo>
                    <a:pt x="0" y="30107"/>
                    <a:pt x="4317" y="19685"/>
                    <a:pt x="12001" y="12001"/>
                  </a:cubicBezTo>
                  <a:cubicBezTo>
                    <a:pt x="19685" y="4317"/>
                    <a:pt x="30107" y="0"/>
                    <a:pt x="409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D9AC2">
                    <a:alpha val="100000"/>
                  </a:srgbClr>
                </a:gs>
                <a:gs pos="100000">
                  <a:srgbClr val="5039A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537931" cy="467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983144"/>
            <a:ext cx="13172158" cy="18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50"/>
              </a:lnSpc>
            </a:pPr>
            <a:r>
              <a:rPr lang="en-US" sz="10464" spc="-512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About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9862" y="3333115"/>
            <a:ext cx="11327621" cy="664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Developed a prototype for the Diamante L1 blockchain stack.</a:t>
            </a:r>
          </a:p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Networking (P2P): Established a decentralized peer-to-peer network for node communication.</a:t>
            </a:r>
          </a:p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Storage (Ledger/State Machine): Managed immutable transaction records and maintained accurate state.</a:t>
            </a:r>
          </a:p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Implemented real-time transaction processing and data persistence.</a:t>
            </a:r>
          </a:p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Created a visual dashboard to monitor node interactions and ledger updates.</a:t>
            </a: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4775" y="7097895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8" y="0"/>
                </a:lnTo>
                <a:lnTo>
                  <a:pt x="4958888" y="4958888"/>
                </a:lnTo>
                <a:lnTo>
                  <a:pt x="0" y="495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6402558" y="-1649810"/>
            <a:ext cx="9784720" cy="13639106"/>
          </a:xfrm>
          <a:custGeom>
            <a:avLst/>
            <a:gdLst/>
            <a:ahLst/>
            <a:cxnLst/>
            <a:rect r="r" b="b" t="t" l="l"/>
            <a:pathLst>
              <a:path h="13639106" w="9784720">
                <a:moveTo>
                  <a:pt x="0" y="0"/>
                </a:moveTo>
                <a:lnTo>
                  <a:pt x="9784720" y="0"/>
                </a:lnTo>
                <a:lnTo>
                  <a:pt x="9784720" y="13639105"/>
                </a:lnTo>
                <a:lnTo>
                  <a:pt x="0" y="13639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3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4355" y="4231262"/>
            <a:ext cx="3909864" cy="1255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9"/>
              </a:lnSpc>
            </a:pPr>
            <a:r>
              <a:rPr lang="en-US" b="true" sz="10199" spc="77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906963" y="-1685521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9" y="0"/>
                </a:lnTo>
                <a:lnTo>
                  <a:pt x="4958889" y="4958888"/>
                </a:lnTo>
                <a:lnTo>
                  <a:pt x="0" y="495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54563" y="-1533121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9" y="0"/>
                </a:lnTo>
                <a:lnTo>
                  <a:pt x="4958889" y="4958888"/>
                </a:lnTo>
                <a:lnTo>
                  <a:pt x="0" y="495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79856" y="-2115328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8" y="0"/>
                </a:lnTo>
                <a:lnTo>
                  <a:pt x="4958888" y="4958889"/>
                </a:lnTo>
                <a:lnTo>
                  <a:pt x="0" y="4958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4820" r="0" b="4820"/>
          <a:stretch>
            <a:fillRect/>
          </a:stretch>
        </p:blipFill>
        <p:spPr>
          <a:xfrm flipH="false" flipV="false" rot="0">
            <a:off x="434366" y="1518321"/>
            <a:ext cx="17524210" cy="8445125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34366" y="-21484"/>
            <a:ext cx="9126387" cy="153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6"/>
              </a:lnSpc>
            </a:pPr>
            <a:r>
              <a:rPr lang="en-US" sz="9069" spc="-4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Demo Video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14714" y="-988572"/>
            <a:ext cx="8034430" cy="10043037"/>
          </a:xfrm>
          <a:custGeom>
            <a:avLst/>
            <a:gdLst/>
            <a:ahLst/>
            <a:cxnLst/>
            <a:rect r="r" b="b" t="t" l="l"/>
            <a:pathLst>
              <a:path h="10043037" w="8034430">
                <a:moveTo>
                  <a:pt x="0" y="0"/>
                </a:moveTo>
                <a:lnTo>
                  <a:pt x="8034429" y="0"/>
                </a:lnTo>
                <a:lnTo>
                  <a:pt x="8034429" y="10043037"/>
                </a:lnTo>
                <a:lnTo>
                  <a:pt x="0" y="10043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80794" y="7258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93502"/>
            <a:ext cx="10060134" cy="392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b="true" sz="3099" spc="-15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System Components:</a:t>
            </a:r>
          </a:p>
          <a:p>
            <a:pPr algn="just">
              <a:lnSpc>
                <a:spcPts val="433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Node 1: Sends transactions/messages.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Node 2: Receives and stores messages in LevelDB.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Server: Exposes stored data via REST API.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Dashboard: Displays live updates of node messages and ledger entries.​</a:t>
            </a:r>
          </a:p>
          <a:p>
            <a:pPr algn="just">
              <a:lnSpc>
                <a:spcPts val="37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75018"/>
            <a:ext cx="10060134" cy="297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b="true" sz="3099" spc="-15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Technologies Used:</a:t>
            </a:r>
          </a:p>
          <a:p>
            <a:pPr algn="just">
              <a:lnSpc>
                <a:spcPts val="433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GoLang for networking and database operations.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LevelDB for lightweight key-value storage.</a:t>
            </a: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HTML/CSS/JS for the frontend interface.</a:t>
            </a: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79856" y="-2115328"/>
            <a:ext cx="4958889" cy="4958889"/>
          </a:xfrm>
          <a:custGeom>
            <a:avLst/>
            <a:gdLst/>
            <a:ahLst/>
            <a:cxnLst/>
            <a:rect r="r" b="b" t="t" l="l"/>
            <a:pathLst>
              <a:path h="4958889" w="4958889">
                <a:moveTo>
                  <a:pt x="0" y="0"/>
                </a:moveTo>
                <a:lnTo>
                  <a:pt x="4958888" y="0"/>
                </a:lnTo>
                <a:lnTo>
                  <a:pt x="4958888" y="4958889"/>
                </a:lnTo>
                <a:lnTo>
                  <a:pt x="0" y="4958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632" t="0" r="632" b="0"/>
          <a:stretch>
            <a:fillRect/>
          </a:stretch>
        </p:blipFill>
        <p:spPr>
          <a:xfrm flipH="false" flipV="false" rot="0">
            <a:off x="401574" y="1518321"/>
            <a:ext cx="17484852" cy="8567577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34366" y="-11959"/>
            <a:ext cx="16631763" cy="140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77"/>
              </a:lnSpc>
            </a:pPr>
            <a:r>
              <a:rPr lang="en-US" sz="8269" spc="-40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Real-world Application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54439" y="8174000"/>
            <a:ext cx="7315200" cy="1103930"/>
          </a:xfrm>
          <a:custGeom>
            <a:avLst/>
            <a:gdLst/>
            <a:ahLst/>
            <a:cxnLst/>
            <a:rect r="r" b="b" t="t" l="l"/>
            <a:pathLst>
              <a:path h="1103930" w="7315200">
                <a:moveTo>
                  <a:pt x="0" y="0"/>
                </a:moveTo>
                <a:lnTo>
                  <a:pt x="7315200" y="0"/>
                </a:lnTo>
                <a:lnTo>
                  <a:pt x="7315200" y="1103930"/>
                </a:lnTo>
                <a:lnTo>
                  <a:pt x="0" y="1103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19547" y="2395183"/>
            <a:ext cx="5778818" cy="5778818"/>
          </a:xfrm>
          <a:custGeom>
            <a:avLst/>
            <a:gdLst/>
            <a:ahLst/>
            <a:cxnLst/>
            <a:rect r="r" b="b" t="t" l="l"/>
            <a:pathLst>
              <a:path h="5778818" w="5778818">
                <a:moveTo>
                  <a:pt x="0" y="0"/>
                </a:moveTo>
                <a:lnTo>
                  <a:pt x="5778818" y="0"/>
                </a:lnTo>
                <a:lnTo>
                  <a:pt x="5778818" y="5778817"/>
                </a:lnTo>
                <a:lnTo>
                  <a:pt x="0" y="57788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60761" y="775995"/>
            <a:ext cx="9090718" cy="86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4"/>
              </a:lnSpc>
            </a:pPr>
            <a:r>
              <a:rPr lang="en-US" sz="5045" spc="-24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Key Features &amp; Outcomes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0761" y="2058889"/>
            <a:ext cx="10978624" cy="759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Simulated peer-to-peer node communication.</a:t>
            </a:r>
          </a:p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Real-time gossip message transmission.</a:t>
            </a:r>
          </a:p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Persistent storage using LevelDB.</a:t>
            </a:r>
          </a:p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Integrated API and frontend for seamless interaction.</a:t>
            </a:r>
          </a:p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Modular design separating nodes, server, and dashboard.</a:t>
            </a:r>
          </a:p>
          <a:p>
            <a:pPr algn="just">
              <a:lnSpc>
                <a:spcPts val="3779"/>
              </a:lnSpc>
            </a:pPr>
          </a:p>
          <a:p>
            <a:pPr algn="just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Outcome: Functional minimum viable product demonstrating node communication and ledger operations, providing a foundation for further enhancements like consensus mechanisms and scalability.​</a:t>
            </a: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777153" y="-3510847"/>
            <a:ext cx="7021693" cy="7021693"/>
          </a:xfrm>
          <a:custGeom>
            <a:avLst/>
            <a:gdLst/>
            <a:ahLst/>
            <a:cxnLst/>
            <a:rect r="r" b="b" t="t" l="l"/>
            <a:pathLst>
              <a:path h="7021693" w="7021693">
                <a:moveTo>
                  <a:pt x="7021694" y="7021694"/>
                </a:moveTo>
                <a:lnTo>
                  <a:pt x="0" y="7021694"/>
                </a:lnTo>
                <a:lnTo>
                  <a:pt x="0" y="0"/>
                </a:lnTo>
                <a:lnTo>
                  <a:pt x="7021694" y="0"/>
                </a:lnTo>
                <a:lnTo>
                  <a:pt x="7021694" y="70216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95883" y="8227349"/>
            <a:ext cx="4123803" cy="2061902"/>
          </a:xfrm>
          <a:custGeom>
            <a:avLst/>
            <a:gdLst/>
            <a:ahLst/>
            <a:cxnLst/>
            <a:rect r="r" b="b" t="t" l="l"/>
            <a:pathLst>
              <a:path h="2061902" w="4123803">
                <a:moveTo>
                  <a:pt x="0" y="0"/>
                </a:moveTo>
                <a:lnTo>
                  <a:pt x="4123803" y="0"/>
                </a:lnTo>
                <a:lnTo>
                  <a:pt x="4123803" y="2061902"/>
                </a:lnTo>
                <a:lnTo>
                  <a:pt x="0" y="206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7920" y="177835"/>
            <a:ext cx="9126387" cy="153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6"/>
              </a:lnSpc>
            </a:pPr>
            <a:r>
              <a:rPr lang="en-US" sz="9069" spc="-44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Industry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7920" y="1873099"/>
            <a:ext cx="12721619" cy="1097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 spc="-13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1. Faster &amp; Reliable Blockchain Nodes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it means: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Blockchain networks consist of many nodes (computers) that store and verify transactions.</a:t>
            </a:r>
          </a:p>
          <a:p>
            <a:pPr algn="just">
              <a:lnSpc>
                <a:spcPts val="3779"/>
              </a:lnSpc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mpact: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Improving their speed and reliability means transactions are processed quicker and the network is more stable.</a:t>
            </a: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it matters: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This is essential for making blockchain systems scalable and user-friendly (e.g., faster payments).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919"/>
              </a:lnSpc>
            </a:pPr>
            <a:r>
              <a:rPr lang="en-US" b="true" sz="2799" spc="-13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2. Stronger Network Security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DoS Prot</a:t>
            </a: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ection: 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Prevents "Denial of Service" attacks, which try to flood the network with fake traffic and shut it down.</a:t>
            </a: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Gossip Protocol: 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 method nodes use to spread information quickly and efficiently, like how rumors spread in a crowd.</a:t>
            </a: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Impact: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Together, they make the network more secure and ensure all nodes stay updated reliably.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---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Let me know if you'd like this turned into a diagram or simplified even more!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49539" y="-3510847"/>
            <a:ext cx="7021693" cy="7021693"/>
          </a:xfrm>
          <a:custGeom>
            <a:avLst/>
            <a:gdLst/>
            <a:ahLst/>
            <a:cxnLst/>
            <a:rect r="r" b="b" t="t" l="l"/>
            <a:pathLst>
              <a:path h="7021693" w="7021693">
                <a:moveTo>
                  <a:pt x="7021694" y="7021694"/>
                </a:moveTo>
                <a:lnTo>
                  <a:pt x="0" y="7021694"/>
                </a:lnTo>
                <a:lnTo>
                  <a:pt x="0" y="0"/>
                </a:lnTo>
                <a:lnTo>
                  <a:pt x="7021694" y="0"/>
                </a:lnTo>
                <a:lnTo>
                  <a:pt x="7021694" y="70216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95883" y="8227349"/>
            <a:ext cx="4123803" cy="2061902"/>
          </a:xfrm>
          <a:custGeom>
            <a:avLst/>
            <a:gdLst/>
            <a:ahLst/>
            <a:cxnLst/>
            <a:rect r="r" b="b" t="t" l="l"/>
            <a:pathLst>
              <a:path h="2061902" w="4123803">
                <a:moveTo>
                  <a:pt x="0" y="0"/>
                </a:moveTo>
                <a:lnTo>
                  <a:pt x="4123803" y="0"/>
                </a:lnTo>
                <a:lnTo>
                  <a:pt x="4123803" y="2061902"/>
                </a:lnTo>
                <a:lnTo>
                  <a:pt x="0" y="206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39252" y="971550"/>
            <a:ext cx="12721619" cy="821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 spc="-13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  <a:r>
              <a:rPr lang="en-US" b="true" sz="2799" spc="-13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. Smarter Ledger Design (using LwDAP)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LwDAP: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 framework or method that helps in analyzing and choosing the best structure for the blockchain ledger.</a:t>
            </a: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Ledger: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A digital record of all transactions in the blockchain.</a:t>
            </a: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Impact:</a:t>
            </a: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Leads to better organization, performance, and adaptability of the blockchain system.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b="true" sz="2799" spc="-13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4. Trends &amp; Evolution Insight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What it does: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Monitors and analyzes changes in the blockchain industry.</a:t>
            </a: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Impact: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Helps companies and developers stay updated with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n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ew technologies, upgrades, or standards.</a:t>
            </a: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it matters: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Staying ahead ensures competitiveness and innovation.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49539" y="-3510847"/>
            <a:ext cx="7021693" cy="7021693"/>
          </a:xfrm>
          <a:custGeom>
            <a:avLst/>
            <a:gdLst/>
            <a:ahLst/>
            <a:cxnLst/>
            <a:rect r="r" b="b" t="t" l="l"/>
            <a:pathLst>
              <a:path h="7021693" w="7021693">
                <a:moveTo>
                  <a:pt x="7021694" y="7021694"/>
                </a:moveTo>
                <a:lnTo>
                  <a:pt x="0" y="7021694"/>
                </a:lnTo>
                <a:lnTo>
                  <a:pt x="0" y="0"/>
                </a:lnTo>
                <a:lnTo>
                  <a:pt x="7021694" y="0"/>
                </a:lnTo>
                <a:lnTo>
                  <a:pt x="7021694" y="70216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95883" y="8227349"/>
            <a:ext cx="4123803" cy="2061902"/>
          </a:xfrm>
          <a:custGeom>
            <a:avLst/>
            <a:gdLst/>
            <a:ahLst/>
            <a:cxnLst/>
            <a:rect r="r" b="b" t="t" l="l"/>
            <a:pathLst>
              <a:path h="2061902" w="4123803">
                <a:moveTo>
                  <a:pt x="0" y="0"/>
                </a:moveTo>
                <a:lnTo>
                  <a:pt x="4123803" y="0"/>
                </a:lnTo>
                <a:lnTo>
                  <a:pt x="4123803" y="2061902"/>
                </a:lnTo>
                <a:lnTo>
                  <a:pt x="0" y="206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0524" y="1530350"/>
            <a:ext cx="12590407" cy="716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b="true" sz="2799" spc="-13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  <a:r>
              <a:rPr lang="en-US" b="true" sz="2799" spc="-13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. Testing &amp;</a:t>
            </a:r>
            <a:r>
              <a:rPr lang="en-US" b="true" sz="2799" spc="-137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Simulation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Best-of-breed testing</a:t>
            </a: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Using top-quality tools to simulate real-world blockchain behavior.</a:t>
            </a:r>
          </a:p>
          <a:p>
            <a:pPr algn="just">
              <a:lnSpc>
                <a:spcPts val="3779"/>
              </a:lnSpc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mpact: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Lets developers test their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n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etworks safely before launch, finding bugs or weaknesses early.</a:t>
            </a: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it matters: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Prevents costly failures and improves user trust.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Web3 is a decentralized version of the internet, where users have control over their data, identities, and assets using blockchain technology.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1. Decentralization-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No central authority (like Facebook or Google); instead, apps run on blockchains or peer-to-peer networks.</a:t>
            </a:r>
          </a:p>
          <a:p>
            <a:pPr algn="just">
              <a:lnSpc>
                <a:spcPts val="3779"/>
              </a:lnSpc>
            </a:pPr>
            <a:r>
              <a:rPr lang="en-US" b="true" sz="2700" spc="-13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2. Ownership-</a:t>
            </a:r>
            <a:r>
              <a:rPr lang="en-US" sz="2700" spc="-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Users truly own their data, digital items (like NFTs), and money (like crypto wallets).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5308" y="1382530"/>
            <a:ext cx="7877899" cy="2663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28"/>
              </a:lnSpc>
            </a:pPr>
            <a:r>
              <a:rPr lang="en-US" sz="15663" spc="-767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45308" y="2953521"/>
            <a:ext cx="7448908" cy="40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35"/>
              </a:lnSpc>
            </a:pPr>
            <a:r>
              <a:rPr lang="en-US" sz="23810" spc="-11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366899" y="1049031"/>
            <a:ext cx="5983088" cy="5993986"/>
          </a:xfrm>
          <a:custGeom>
            <a:avLst/>
            <a:gdLst/>
            <a:ahLst/>
            <a:cxnLst/>
            <a:rect r="r" b="b" t="t" l="l"/>
            <a:pathLst>
              <a:path h="5993986" w="5983088">
                <a:moveTo>
                  <a:pt x="0" y="0"/>
                </a:moveTo>
                <a:lnTo>
                  <a:pt x="5983088" y="0"/>
                </a:lnTo>
                <a:lnTo>
                  <a:pt x="5983088" y="5993987"/>
                </a:lnTo>
                <a:lnTo>
                  <a:pt x="0" y="599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428886" y="7883598"/>
            <a:ext cx="9859114" cy="1487830"/>
          </a:xfrm>
          <a:custGeom>
            <a:avLst/>
            <a:gdLst/>
            <a:ahLst/>
            <a:cxnLst/>
            <a:rect r="r" b="b" t="t" l="l"/>
            <a:pathLst>
              <a:path h="1487830" w="9859114">
                <a:moveTo>
                  <a:pt x="9859114" y="0"/>
                </a:moveTo>
                <a:lnTo>
                  <a:pt x="0" y="0"/>
                </a:lnTo>
                <a:lnTo>
                  <a:pt x="0" y="1487830"/>
                </a:lnTo>
                <a:lnTo>
                  <a:pt x="9859114" y="1487830"/>
                </a:lnTo>
                <a:lnTo>
                  <a:pt x="985911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91902" y="7968382"/>
            <a:ext cx="8367398" cy="125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-17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Thanks for this amazing opportunity! Diamante V2 Hackathon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66274" y="459959"/>
            <a:ext cx="1192068" cy="649584"/>
          </a:xfrm>
          <a:custGeom>
            <a:avLst/>
            <a:gdLst/>
            <a:ahLst/>
            <a:cxnLst/>
            <a:rect r="r" b="b" t="t" l="l"/>
            <a:pathLst>
              <a:path h="649584" w="1192068">
                <a:moveTo>
                  <a:pt x="0" y="0"/>
                </a:moveTo>
                <a:lnTo>
                  <a:pt x="1192068" y="0"/>
                </a:lnTo>
                <a:lnTo>
                  <a:pt x="1192068" y="649583"/>
                </a:lnTo>
                <a:lnTo>
                  <a:pt x="0" y="649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58342" y="393284"/>
            <a:ext cx="5787673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spc="-181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Diamante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DAGmLZhgE6I</dc:identifier>
  <dcterms:modified xsi:type="dcterms:W3CDTF">2011-08-01T06:04:30Z</dcterms:modified>
  <cp:revision>1</cp:revision>
  <dc:title>TECHSENATE</dc:title>
</cp:coreProperties>
</file>